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ssistant" charset="1" panose="00000500000000000000"/>
      <p:regular r:id="rId13"/>
    </p:embeddedFont>
    <p:embeddedFont>
      <p:font typeface="Roca One" charset="1" panose="00000500000000000000"/>
      <p:regular r:id="rId14"/>
    </p:embeddedFont>
    <p:embeddedFont>
      <p:font typeface="Montserrat" charset="1" panose="00000500000000000000"/>
      <p:regular r:id="rId15"/>
    </p:embeddedFont>
    <p:embeddedFont>
      <p:font typeface="Montserrat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../media/image8.pn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5271" y="4565874"/>
            <a:ext cx="5902101" cy="7974702"/>
            <a:chOff x="0" y="0"/>
            <a:chExt cx="7869467" cy="106329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69467" cy="7869467"/>
            </a:xfrm>
            <a:custGeom>
              <a:avLst/>
              <a:gdLst/>
              <a:ahLst/>
              <a:cxnLst/>
              <a:rect r="r" b="b" t="t" l="l"/>
              <a:pathLst>
                <a:path h="7869467" w="7869467">
                  <a:moveTo>
                    <a:pt x="0" y="0"/>
                  </a:moveTo>
                  <a:lnTo>
                    <a:pt x="7869467" y="0"/>
                  </a:lnTo>
                  <a:lnTo>
                    <a:pt x="7869467" y="7869467"/>
                  </a:lnTo>
                  <a:lnTo>
                    <a:pt x="0" y="7869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13695" y="6497867"/>
              <a:ext cx="7555772" cy="4135068"/>
            </a:xfrm>
            <a:custGeom>
              <a:avLst/>
              <a:gdLst/>
              <a:ahLst/>
              <a:cxnLst/>
              <a:rect r="r" b="b" t="t" l="l"/>
              <a:pathLst>
                <a:path h="4135068" w="7555772">
                  <a:moveTo>
                    <a:pt x="0" y="0"/>
                  </a:moveTo>
                  <a:lnTo>
                    <a:pt x="7555772" y="0"/>
                  </a:lnTo>
                  <a:lnTo>
                    <a:pt x="7555772" y="4135069"/>
                  </a:lnTo>
                  <a:lnTo>
                    <a:pt x="0" y="4135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2385899" y="-2268953"/>
            <a:ext cx="5902101" cy="7974702"/>
            <a:chOff x="0" y="0"/>
            <a:chExt cx="7869467" cy="106329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69467" cy="7869467"/>
            </a:xfrm>
            <a:custGeom>
              <a:avLst/>
              <a:gdLst/>
              <a:ahLst/>
              <a:cxnLst/>
              <a:rect r="r" b="b" t="t" l="l"/>
              <a:pathLst>
                <a:path h="7869467" w="7869467">
                  <a:moveTo>
                    <a:pt x="0" y="0"/>
                  </a:moveTo>
                  <a:lnTo>
                    <a:pt x="7869467" y="0"/>
                  </a:lnTo>
                  <a:lnTo>
                    <a:pt x="7869467" y="7869467"/>
                  </a:lnTo>
                  <a:lnTo>
                    <a:pt x="0" y="7869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13695" y="6497867"/>
              <a:ext cx="7555772" cy="4135068"/>
            </a:xfrm>
            <a:custGeom>
              <a:avLst/>
              <a:gdLst/>
              <a:ahLst/>
              <a:cxnLst/>
              <a:rect r="r" b="b" t="t" l="l"/>
              <a:pathLst>
                <a:path h="4135068" w="7555772">
                  <a:moveTo>
                    <a:pt x="0" y="0"/>
                  </a:moveTo>
                  <a:lnTo>
                    <a:pt x="7555772" y="0"/>
                  </a:lnTo>
                  <a:lnTo>
                    <a:pt x="7555772" y="4135069"/>
                  </a:lnTo>
                  <a:lnTo>
                    <a:pt x="0" y="4135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2672315" y="-776716"/>
            <a:ext cx="4054948" cy="4114800"/>
          </a:xfrm>
          <a:custGeom>
            <a:avLst/>
            <a:gdLst/>
            <a:ahLst/>
            <a:cxnLst/>
            <a:rect r="r" b="b" t="t" l="l"/>
            <a:pathLst>
              <a:path h="4114800" w="4054948">
                <a:moveTo>
                  <a:pt x="0" y="0"/>
                </a:moveTo>
                <a:lnTo>
                  <a:pt x="4054948" y="0"/>
                </a:lnTo>
                <a:lnTo>
                  <a:pt x="40549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6884370" y="7044598"/>
            <a:ext cx="4054948" cy="4114800"/>
          </a:xfrm>
          <a:custGeom>
            <a:avLst/>
            <a:gdLst/>
            <a:ahLst/>
            <a:cxnLst/>
            <a:rect r="r" b="b" t="t" l="l"/>
            <a:pathLst>
              <a:path h="4114800" w="4054948">
                <a:moveTo>
                  <a:pt x="405494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54949" y="0"/>
                </a:lnTo>
                <a:lnTo>
                  <a:pt x="4054949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715779" y="1277782"/>
            <a:ext cx="3584673" cy="881232"/>
          </a:xfrm>
          <a:custGeom>
            <a:avLst/>
            <a:gdLst/>
            <a:ahLst/>
            <a:cxnLst/>
            <a:rect r="r" b="b" t="t" l="l"/>
            <a:pathLst>
              <a:path h="881232" w="3584673">
                <a:moveTo>
                  <a:pt x="0" y="0"/>
                </a:moveTo>
                <a:lnTo>
                  <a:pt x="3584673" y="0"/>
                </a:lnTo>
                <a:lnTo>
                  <a:pt x="3584673" y="881232"/>
                </a:lnTo>
                <a:lnTo>
                  <a:pt x="0" y="8812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680216" y="8502448"/>
            <a:ext cx="7411367" cy="135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81"/>
              </a:lnSpc>
            </a:pPr>
            <a:r>
              <a:rPr lang="en-US" sz="3581" spc="5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Presented by: Matías Molins, Javier Castro, Lucas Hernández y Nicolás Ponce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2633" y="4403949"/>
            <a:ext cx="12486224" cy="2797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GESTIÓN OPERATIVA Y MANTENIMIENTO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2633" y="3176159"/>
            <a:ext cx="16950237" cy="137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SAAS MULTI-TENANT PARA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9443" y="1028700"/>
            <a:ext cx="16229114" cy="8229600"/>
            <a:chOff x="0" y="0"/>
            <a:chExt cx="42743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33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334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385496" y="4351983"/>
            <a:ext cx="5905500" cy="3480197"/>
            <a:chOff x="0" y="0"/>
            <a:chExt cx="7874000" cy="46402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74000" cy="4640262"/>
            </a:xfrm>
            <a:custGeom>
              <a:avLst/>
              <a:gdLst/>
              <a:ahLst/>
              <a:cxnLst/>
              <a:rect r="r" b="b" t="t" l="l"/>
              <a:pathLst>
                <a:path h="4640262" w="7874000">
                  <a:moveTo>
                    <a:pt x="609600" y="0"/>
                  </a:moveTo>
                  <a:lnTo>
                    <a:pt x="7264400" y="0"/>
                  </a:lnTo>
                  <a:cubicBezTo>
                    <a:pt x="7601072" y="0"/>
                    <a:pt x="7874000" y="207752"/>
                    <a:pt x="7874000" y="464026"/>
                  </a:cubicBezTo>
                  <a:lnTo>
                    <a:pt x="7874000" y="4176236"/>
                  </a:lnTo>
                  <a:cubicBezTo>
                    <a:pt x="7874000" y="4432511"/>
                    <a:pt x="7601072" y="4640262"/>
                    <a:pt x="7264400" y="4640262"/>
                  </a:cubicBezTo>
                  <a:lnTo>
                    <a:pt x="609600" y="4640262"/>
                  </a:lnTo>
                  <a:cubicBezTo>
                    <a:pt x="272927" y="4640262"/>
                    <a:pt x="0" y="4432511"/>
                    <a:pt x="0" y="4176236"/>
                  </a:cubicBezTo>
                  <a:lnTo>
                    <a:pt x="0" y="464026"/>
                  </a:lnTo>
                  <a:cubicBezTo>
                    <a:pt x="0" y="207752"/>
                    <a:pt x="272927" y="0"/>
                    <a:pt x="609600" y="0"/>
                  </a:cubicBezTo>
                  <a:close/>
                </a:path>
              </a:pathLst>
            </a:custGeom>
            <a:solidFill>
              <a:srgbClr val="F0F4F7"/>
            </a:solidFill>
            <a:ln w="19050" cap="sq">
              <a:solidFill>
                <a:srgbClr val="4A7C9B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874000" cy="4678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54501" y="4351983"/>
            <a:ext cx="5905500" cy="3480197"/>
            <a:chOff x="0" y="0"/>
            <a:chExt cx="7874000" cy="46402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74000" cy="4640262"/>
            </a:xfrm>
            <a:custGeom>
              <a:avLst/>
              <a:gdLst/>
              <a:ahLst/>
              <a:cxnLst/>
              <a:rect r="r" b="b" t="t" l="l"/>
              <a:pathLst>
                <a:path h="4640262" w="7874000">
                  <a:moveTo>
                    <a:pt x="609600" y="0"/>
                  </a:moveTo>
                  <a:lnTo>
                    <a:pt x="7264400" y="0"/>
                  </a:lnTo>
                  <a:cubicBezTo>
                    <a:pt x="7601072" y="0"/>
                    <a:pt x="7874000" y="207752"/>
                    <a:pt x="7874000" y="464026"/>
                  </a:cubicBezTo>
                  <a:lnTo>
                    <a:pt x="7874000" y="4176236"/>
                  </a:lnTo>
                  <a:cubicBezTo>
                    <a:pt x="7874000" y="4432511"/>
                    <a:pt x="7601072" y="4640262"/>
                    <a:pt x="7264400" y="4640262"/>
                  </a:cubicBezTo>
                  <a:lnTo>
                    <a:pt x="609600" y="4640262"/>
                  </a:lnTo>
                  <a:cubicBezTo>
                    <a:pt x="272927" y="4640262"/>
                    <a:pt x="0" y="4432511"/>
                    <a:pt x="0" y="4176236"/>
                  </a:cubicBezTo>
                  <a:lnTo>
                    <a:pt x="0" y="464026"/>
                  </a:lnTo>
                  <a:cubicBezTo>
                    <a:pt x="0" y="207752"/>
                    <a:pt x="272927" y="0"/>
                    <a:pt x="609600" y="0"/>
                  </a:cubicBezTo>
                  <a:close/>
                </a:path>
              </a:pathLst>
            </a:custGeom>
            <a:solidFill>
              <a:srgbClr val="F0F4F7"/>
            </a:solidFill>
            <a:ln w="19050" cap="sq">
              <a:solidFill>
                <a:srgbClr val="4A7C9B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874000" cy="4678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true" rot="0">
            <a:off x="16310046" y="-2312817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6125872" y="9311584"/>
            <a:ext cx="6036256" cy="3303478"/>
          </a:xfrm>
          <a:custGeom>
            <a:avLst/>
            <a:gdLst/>
            <a:ahLst/>
            <a:cxnLst/>
            <a:rect r="r" b="b" t="t" l="l"/>
            <a:pathLst>
              <a:path h="3303478" w="6036256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763875" y="5362118"/>
            <a:ext cx="5086751" cy="2186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19"/>
              </a:lnSpc>
            </a:pPr>
            <a:r>
              <a:rPr lang="en-US" sz="2513" spc="37">
                <a:solidFill>
                  <a:srgbClr val="0E182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513" spc="37">
                <a:solidFill>
                  <a:srgbClr val="0E182F"/>
                </a:solidFill>
                <a:latin typeface="Montserrat"/>
                <a:ea typeface="Montserrat"/>
                <a:cs typeface="Montserrat"/>
                <a:sym typeface="Montserrat"/>
              </a:rPr>
              <a:t>liente con 60 máquinas y pistas de bowling ubicadas en diferentes sitios que requiere digitalizar su gestión operativa y mantenimiento.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86682" y="2589911"/>
            <a:ext cx="7314637" cy="111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980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Contexto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08869" y="5074183"/>
            <a:ext cx="5058755" cy="261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spc="37">
                <a:solidFill>
                  <a:srgbClr val="0E182F"/>
                </a:solidFill>
                <a:latin typeface="Montserrat"/>
                <a:ea typeface="Montserrat"/>
                <a:cs typeface="Montserrat"/>
                <a:sym typeface="Montserrat"/>
              </a:rPr>
              <a:t>Empr</a:t>
            </a:r>
            <a:r>
              <a:rPr lang="en-US" sz="2500" spc="37">
                <a:solidFill>
                  <a:srgbClr val="0E182F"/>
                </a:solidFill>
                <a:latin typeface="Montserrat"/>
                <a:ea typeface="Montserrat"/>
                <a:cs typeface="Montserrat"/>
                <a:sym typeface="Montserrat"/>
              </a:rPr>
              <a:t>esa de producción de eventos que necesita trazabilidad de paneles y módulos LED mediante, control de incidentes de montaje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34187" y="4482929"/>
            <a:ext cx="5086751" cy="421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19"/>
              </a:lnSpc>
            </a:pPr>
            <a:r>
              <a:rPr lang="en-US" b="true" sz="2513" spc="37">
                <a:solidFill>
                  <a:srgbClr val="0E182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Bowling Service SPA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94871" y="4482929"/>
            <a:ext cx="5086751" cy="421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19"/>
              </a:lnSpc>
            </a:pPr>
            <a:r>
              <a:rPr lang="en-US" b="true" sz="2513" spc="37">
                <a:solidFill>
                  <a:srgbClr val="0E182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Alejandra Producciones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29443" y="1028700"/>
            <a:ext cx="3584673" cy="881232"/>
          </a:xfrm>
          <a:custGeom>
            <a:avLst/>
            <a:gdLst/>
            <a:ahLst/>
            <a:cxnLst/>
            <a:rect r="r" b="b" t="t" l="l"/>
            <a:pathLst>
              <a:path h="881232" w="3584673">
                <a:moveTo>
                  <a:pt x="0" y="0"/>
                </a:moveTo>
                <a:lnTo>
                  <a:pt x="3584673" y="0"/>
                </a:lnTo>
                <a:lnTo>
                  <a:pt x="3584673" y="881232"/>
                </a:lnTo>
                <a:lnTo>
                  <a:pt x="0" y="8812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9443" y="1028700"/>
            <a:ext cx="16229114" cy="8229600"/>
            <a:chOff x="0" y="0"/>
            <a:chExt cx="42743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33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334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6310046" y="-2312817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6125872" y="9311584"/>
            <a:ext cx="6036256" cy="3303478"/>
          </a:xfrm>
          <a:custGeom>
            <a:avLst/>
            <a:gdLst/>
            <a:ahLst/>
            <a:cxnLst/>
            <a:rect r="r" b="b" t="t" l="l"/>
            <a:pathLst>
              <a:path h="3303478" w="6036256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70859" y="4421833"/>
            <a:ext cx="11384568" cy="348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 spc="37">
                <a:solidFill>
                  <a:srgbClr val="0D1C38"/>
                </a:solidFill>
                <a:latin typeface="Montserrat"/>
                <a:ea typeface="Montserrat"/>
                <a:cs typeface="Montserrat"/>
                <a:sym typeface="Montserrat"/>
              </a:rPr>
              <a:t>Regist</a:t>
            </a:r>
            <a:r>
              <a:rPr lang="en-US" sz="2500" spc="37">
                <a:solidFill>
                  <a:srgbClr val="0D1C38"/>
                </a:solidFill>
                <a:latin typeface="Montserrat"/>
                <a:ea typeface="Montserrat"/>
                <a:cs typeface="Montserrat"/>
                <a:sym typeface="Montserrat"/>
              </a:rPr>
              <a:t>ros en papel y mensajería informal: sin trazabilidad ni historial confiable.</a:t>
            </a:r>
          </a:p>
          <a:p>
            <a:pPr algn="just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 spc="37">
                <a:solidFill>
                  <a:srgbClr val="0D1C38"/>
                </a:solidFill>
                <a:latin typeface="Montserrat"/>
                <a:ea typeface="Montserrat"/>
                <a:cs typeface="Montserrat"/>
                <a:sym typeface="Montserrat"/>
              </a:rPr>
              <a:t>Mantenimiento reactivo: fallas recurrentes, tiempos de inactividad no planificados y pérdida de información crítica.</a:t>
            </a:r>
          </a:p>
          <a:p>
            <a:pPr algn="just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 spc="37">
                <a:solidFill>
                  <a:srgbClr val="0D1C38"/>
                </a:solidFill>
                <a:latin typeface="Montserrat"/>
                <a:ea typeface="Montserrat"/>
                <a:cs typeface="Montserrat"/>
                <a:sym typeface="Montserrat"/>
              </a:rPr>
              <a:t>Trabajo en terreno sin conectividad: operadores sin acceso a datos ni pautas digitales en campo.</a:t>
            </a:r>
          </a:p>
          <a:p>
            <a:pPr algn="just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 spc="37">
                <a:solidFill>
                  <a:srgbClr val="0D1C38"/>
                </a:solidFill>
                <a:latin typeface="Montserrat"/>
                <a:ea typeface="Montserrat"/>
                <a:cs typeface="Montserrat"/>
                <a:sym typeface="Montserrat"/>
              </a:rPr>
              <a:t>Administración sin visibilidad en tiempo real: sin métricas, sin control de activos, sin reportes consolidados.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82499" y="2863713"/>
            <a:ext cx="7314637" cy="103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90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Problema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29443" y="1028700"/>
            <a:ext cx="3584673" cy="881232"/>
          </a:xfrm>
          <a:custGeom>
            <a:avLst/>
            <a:gdLst/>
            <a:ahLst/>
            <a:cxnLst/>
            <a:rect r="r" b="b" t="t" l="l"/>
            <a:pathLst>
              <a:path h="881232" w="3584673">
                <a:moveTo>
                  <a:pt x="0" y="0"/>
                </a:moveTo>
                <a:lnTo>
                  <a:pt x="3584673" y="0"/>
                </a:lnTo>
                <a:lnTo>
                  <a:pt x="3584673" y="881232"/>
                </a:lnTo>
                <a:lnTo>
                  <a:pt x="0" y="8812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9443" y="1028700"/>
            <a:ext cx="16229114" cy="8229600"/>
            <a:chOff x="0" y="0"/>
            <a:chExt cx="42743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33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334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6310046" y="-2312817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6125872" y="9311584"/>
            <a:ext cx="6036256" cy="3303478"/>
          </a:xfrm>
          <a:custGeom>
            <a:avLst/>
            <a:gdLst/>
            <a:ahLst/>
            <a:cxnLst/>
            <a:rect r="r" b="b" t="t" l="l"/>
            <a:pathLst>
              <a:path h="3303478" w="6036256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048000" y="4133850"/>
            <a:ext cx="5905500" cy="4572000"/>
            <a:chOff x="0" y="0"/>
            <a:chExt cx="7874000" cy="609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74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7874000">
                  <a:moveTo>
                    <a:pt x="609600" y="0"/>
                  </a:moveTo>
                  <a:lnTo>
                    <a:pt x="7264400" y="0"/>
                  </a:lnTo>
                  <a:cubicBezTo>
                    <a:pt x="7601072" y="0"/>
                    <a:pt x="7874000" y="272927"/>
                    <a:pt x="7874000" y="609600"/>
                  </a:cubicBezTo>
                  <a:lnTo>
                    <a:pt x="7874000" y="5486400"/>
                  </a:lnTo>
                  <a:cubicBezTo>
                    <a:pt x="7874000" y="5823073"/>
                    <a:pt x="7601072" y="6096000"/>
                    <a:pt x="7264400" y="6096000"/>
                  </a:cubicBezTo>
                  <a:lnTo>
                    <a:pt x="609600" y="6096000"/>
                  </a:lnTo>
                  <a:cubicBezTo>
                    <a:pt x="272927" y="6096000"/>
                    <a:pt x="0" y="5823073"/>
                    <a:pt x="0" y="5486400"/>
                  </a:cubicBezTo>
                  <a:lnTo>
                    <a:pt x="0" y="609600"/>
                  </a:lnTo>
                  <a:cubicBezTo>
                    <a:pt x="0" y="272927"/>
                    <a:pt x="272927" y="0"/>
                    <a:pt x="609600" y="0"/>
                  </a:cubicBezTo>
                  <a:close/>
                </a:path>
              </a:pathLst>
            </a:custGeom>
            <a:solidFill>
              <a:srgbClr val="F0F4F7"/>
            </a:solidFill>
            <a:ln w="19050" cap="sq">
              <a:solidFill>
                <a:srgbClr val="4A7C9B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874000" cy="613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34500" y="4133850"/>
            <a:ext cx="5905500" cy="4572000"/>
            <a:chOff x="0" y="0"/>
            <a:chExt cx="7874000" cy="609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74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7874000">
                  <a:moveTo>
                    <a:pt x="609600" y="0"/>
                  </a:moveTo>
                  <a:lnTo>
                    <a:pt x="7264400" y="0"/>
                  </a:lnTo>
                  <a:cubicBezTo>
                    <a:pt x="7601072" y="0"/>
                    <a:pt x="7874000" y="272927"/>
                    <a:pt x="7874000" y="609600"/>
                  </a:cubicBezTo>
                  <a:lnTo>
                    <a:pt x="7874000" y="5486400"/>
                  </a:lnTo>
                  <a:cubicBezTo>
                    <a:pt x="7874000" y="5823073"/>
                    <a:pt x="7601072" y="6096000"/>
                    <a:pt x="7264400" y="6096000"/>
                  </a:cubicBezTo>
                  <a:lnTo>
                    <a:pt x="609600" y="6096000"/>
                  </a:lnTo>
                  <a:cubicBezTo>
                    <a:pt x="272927" y="6096000"/>
                    <a:pt x="0" y="5823073"/>
                    <a:pt x="0" y="5486400"/>
                  </a:cubicBezTo>
                  <a:lnTo>
                    <a:pt x="0" y="609600"/>
                  </a:lnTo>
                  <a:cubicBezTo>
                    <a:pt x="0" y="272927"/>
                    <a:pt x="272927" y="0"/>
                    <a:pt x="609600" y="0"/>
                  </a:cubicBezTo>
                  <a:close/>
                </a:path>
              </a:pathLst>
            </a:custGeom>
            <a:solidFill>
              <a:srgbClr val="F0F4F7"/>
            </a:solidFill>
            <a:ln w="19050" cap="sq">
              <a:solidFill>
                <a:srgbClr val="4A7C9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874000" cy="613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333052" y="2062570"/>
            <a:ext cx="5621896" cy="1600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9"/>
              </a:lnSpc>
            </a:pPr>
            <a:r>
              <a:rPr lang="en-US" sz="5299">
                <a:solidFill>
                  <a:srgbClr val="000000"/>
                </a:solidFill>
                <a:latin typeface="Roca One"/>
                <a:ea typeface="Roca One"/>
                <a:cs typeface="Roca One"/>
                <a:sym typeface="Roca One"/>
              </a:rPr>
              <a:t>Usuarios y funcionalidades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14700" y="4400550"/>
            <a:ext cx="53721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4A7C9B"/>
                </a:solidFill>
                <a:latin typeface="Assistant"/>
                <a:ea typeface="Assistant"/>
                <a:cs typeface="Assistant"/>
                <a:sym typeface="Assistant"/>
              </a:rPr>
              <a:t>Técnicos / Operadores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14700" y="4829175"/>
            <a:ext cx="5372100" cy="2164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199">
                <a:solidFill>
                  <a:srgbClr val="0E182F"/>
                </a:solidFill>
                <a:latin typeface="Montserrat"/>
                <a:ea typeface="Montserrat"/>
                <a:cs typeface="Montserrat"/>
                <a:sym typeface="Montserrat"/>
              </a:rPr>
              <a:t>•  Escaneo QR</a:t>
            </a:r>
          </a:p>
          <a:p>
            <a:pPr algn="l">
              <a:lnSpc>
                <a:spcPts val="3519"/>
              </a:lnSpc>
            </a:pPr>
            <a:r>
              <a:rPr lang="en-US" sz="2199">
                <a:solidFill>
                  <a:srgbClr val="0E182F"/>
                </a:solidFill>
                <a:latin typeface="Montserrat"/>
                <a:ea typeface="Montserrat"/>
                <a:cs typeface="Montserrat"/>
                <a:sym typeface="Montserrat"/>
              </a:rPr>
              <a:t>•  Captura de fotos</a:t>
            </a:r>
          </a:p>
          <a:p>
            <a:pPr algn="l">
              <a:lnSpc>
                <a:spcPts val="3519"/>
              </a:lnSpc>
            </a:pPr>
            <a:r>
              <a:rPr lang="en-US" sz="2199">
                <a:solidFill>
                  <a:srgbClr val="0E182F"/>
                </a:solidFill>
                <a:latin typeface="Montserrat"/>
                <a:ea typeface="Montserrat"/>
                <a:cs typeface="Montserrat"/>
                <a:sym typeface="Montserrat"/>
              </a:rPr>
              <a:t>•  Firma digital</a:t>
            </a:r>
          </a:p>
          <a:p>
            <a:pPr algn="l">
              <a:lnSpc>
                <a:spcPts val="3519"/>
              </a:lnSpc>
            </a:pPr>
            <a:r>
              <a:rPr lang="en-US" sz="2199">
                <a:solidFill>
                  <a:srgbClr val="0E182F"/>
                </a:solidFill>
                <a:latin typeface="Montserrat"/>
                <a:ea typeface="Montserrat"/>
                <a:cs typeface="Montserrat"/>
                <a:sym typeface="Montserrat"/>
              </a:rPr>
              <a:t>•  Pautas de mantenimiento</a:t>
            </a:r>
          </a:p>
          <a:p>
            <a:pPr algn="l">
              <a:lnSpc>
                <a:spcPts val="3519"/>
              </a:lnSpc>
            </a:pPr>
            <a:r>
              <a:rPr lang="en-US" sz="2199">
                <a:solidFill>
                  <a:srgbClr val="0E182F"/>
                </a:solidFill>
                <a:latin typeface="Montserrat"/>
                <a:ea typeface="Montserrat"/>
                <a:cs typeface="Montserrat"/>
                <a:sym typeface="Montserrat"/>
              </a:rPr>
              <a:t>•  Registro de fallas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01200" y="4400550"/>
            <a:ext cx="53721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4A7C9B"/>
                </a:solidFill>
                <a:latin typeface="Assistant"/>
                <a:ea typeface="Assistant"/>
                <a:cs typeface="Assistant"/>
                <a:sym typeface="Assistant"/>
              </a:rPr>
              <a:t>Administradores / Gestores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01200" y="4829175"/>
            <a:ext cx="5372100" cy="128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199">
                <a:solidFill>
                  <a:srgbClr val="0E182F"/>
                </a:solidFill>
                <a:latin typeface="Montserrat"/>
                <a:ea typeface="Montserrat"/>
                <a:cs typeface="Montserrat"/>
                <a:sym typeface="Montserrat"/>
              </a:rPr>
              <a:t>•  CRUD de activos</a:t>
            </a:r>
          </a:p>
          <a:p>
            <a:pPr algn="l">
              <a:lnSpc>
                <a:spcPts val="3519"/>
              </a:lnSpc>
            </a:pPr>
            <a:r>
              <a:rPr lang="en-US" sz="2199">
                <a:solidFill>
                  <a:srgbClr val="0E182F"/>
                </a:solidFill>
                <a:latin typeface="Montserrat"/>
                <a:ea typeface="Montserrat"/>
                <a:cs typeface="Montserrat"/>
                <a:sym typeface="Montserrat"/>
              </a:rPr>
              <a:t>•  Gestión de inventario</a:t>
            </a:r>
          </a:p>
          <a:p>
            <a:pPr algn="l">
              <a:lnSpc>
                <a:spcPts val="3519"/>
              </a:lnSpc>
            </a:pPr>
            <a:r>
              <a:rPr lang="en-US" sz="2199">
                <a:solidFill>
                  <a:srgbClr val="0E182F"/>
                </a:solidFill>
                <a:latin typeface="Montserrat"/>
                <a:ea typeface="Montserrat"/>
                <a:cs typeface="Montserrat"/>
                <a:sym typeface="Montserrat"/>
              </a:rPr>
              <a:t>•  Reportes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29443" y="1028700"/>
            <a:ext cx="3584673" cy="881232"/>
          </a:xfrm>
          <a:custGeom>
            <a:avLst/>
            <a:gdLst/>
            <a:ahLst/>
            <a:cxnLst/>
            <a:rect r="r" b="b" t="t" l="l"/>
            <a:pathLst>
              <a:path h="881232" w="3584673">
                <a:moveTo>
                  <a:pt x="0" y="0"/>
                </a:moveTo>
                <a:lnTo>
                  <a:pt x="3584673" y="0"/>
                </a:lnTo>
                <a:lnTo>
                  <a:pt x="3584673" y="881232"/>
                </a:lnTo>
                <a:lnTo>
                  <a:pt x="0" y="8812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9443" y="1028700"/>
            <a:ext cx="16229114" cy="8229600"/>
            <a:chOff x="0" y="0"/>
            <a:chExt cx="42743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33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334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6310046" y="-2312817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6125872" y="9311584"/>
            <a:ext cx="6036256" cy="3303478"/>
          </a:xfrm>
          <a:custGeom>
            <a:avLst/>
            <a:gdLst/>
            <a:ahLst/>
            <a:cxnLst/>
            <a:rect r="r" b="b" t="t" l="l"/>
            <a:pathLst>
              <a:path h="3303478" w="6036256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104611" y="2294255"/>
            <a:ext cx="2915568" cy="6608621"/>
          </a:xfrm>
          <a:custGeom>
            <a:avLst/>
            <a:gdLst/>
            <a:ahLst/>
            <a:cxnLst/>
            <a:rect r="r" b="b" t="t" l="l"/>
            <a:pathLst>
              <a:path h="6608621" w="2915568">
                <a:moveTo>
                  <a:pt x="0" y="0"/>
                </a:moveTo>
                <a:lnTo>
                  <a:pt x="2915569" y="0"/>
                </a:lnTo>
                <a:lnTo>
                  <a:pt x="2915569" y="6608621"/>
                </a:lnTo>
                <a:lnTo>
                  <a:pt x="0" y="6608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899938" y="2302631"/>
            <a:ext cx="2928436" cy="6600245"/>
          </a:xfrm>
          <a:custGeom>
            <a:avLst/>
            <a:gdLst/>
            <a:ahLst/>
            <a:cxnLst/>
            <a:rect r="r" b="b" t="t" l="l"/>
            <a:pathLst>
              <a:path h="6600245" w="2928436">
                <a:moveTo>
                  <a:pt x="0" y="0"/>
                </a:moveTo>
                <a:lnTo>
                  <a:pt x="2928436" y="0"/>
                </a:lnTo>
                <a:lnTo>
                  <a:pt x="2928436" y="6600245"/>
                </a:lnTo>
                <a:lnTo>
                  <a:pt x="0" y="66002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682229" y="2270774"/>
            <a:ext cx="2915568" cy="6608621"/>
          </a:xfrm>
          <a:custGeom>
            <a:avLst/>
            <a:gdLst/>
            <a:ahLst/>
            <a:cxnLst/>
            <a:rect r="r" b="b" t="t" l="l"/>
            <a:pathLst>
              <a:path h="6608621" w="2915568">
                <a:moveTo>
                  <a:pt x="0" y="0"/>
                </a:moveTo>
                <a:lnTo>
                  <a:pt x="2915569" y="0"/>
                </a:lnTo>
                <a:lnTo>
                  <a:pt x="2915569" y="6608621"/>
                </a:lnTo>
                <a:lnTo>
                  <a:pt x="0" y="6608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455078" y="2270774"/>
            <a:ext cx="2938825" cy="6593517"/>
          </a:xfrm>
          <a:custGeom>
            <a:avLst/>
            <a:gdLst/>
            <a:ahLst/>
            <a:cxnLst/>
            <a:rect r="r" b="b" t="t" l="l"/>
            <a:pathLst>
              <a:path h="6593517" w="2938825">
                <a:moveTo>
                  <a:pt x="0" y="0"/>
                </a:moveTo>
                <a:lnTo>
                  <a:pt x="2938825" y="0"/>
                </a:lnTo>
                <a:lnTo>
                  <a:pt x="2938825" y="6593517"/>
                </a:lnTo>
                <a:lnTo>
                  <a:pt x="0" y="659351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195329" y="2157839"/>
            <a:ext cx="2988059" cy="7385870"/>
          </a:xfrm>
          <a:custGeom>
            <a:avLst/>
            <a:gdLst/>
            <a:ahLst/>
            <a:cxnLst/>
            <a:rect r="r" b="b" t="t" l="l"/>
            <a:pathLst>
              <a:path h="7385870" w="2988059">
                <a:moveTo>
                  <a:pt x="0" y="0"/>
                </a:moveTo>
                <a:lnTo>
                  <a:pt x="2988060" y="0"/>
                </a:lnTo>
                <a:lnTo>
                  <a:pt x="2988060" y="7385870"/>
                </a:lnTo>
                <a:lnTo>
                  <a:pt x="0" y="73858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92551" y="1751405"/>
            <a:ext cx="11202778" cy="695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60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Mockups Bowling Services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725373" y="1028700"/>
            <a:ext cx="3584673" cy="881232"/>
          </a:xfrm>
          <a:custGeom>
            <a:avLst/>
            <a:gdLst/>
            <a:ahLst/>
            <a:cxnLst/>
            <a:rect r="r" b="b" t="t" l="l"/>
            <a:pathLst>
              <a:path h="881232" w="3584673">
                <a:moveTo>
                  <a:pt x="0" y="0"/>
                </a:moveTo>
                <a:lnTo>
                  <a:pt x="3584673" y="0"/>
                </a:lnTo>
                <a:lnTo>
                  <a:pt x="3584673" y="881232"/>
                </a:lnTo>
                <a:lnTo>
                  <a:pt x="0" y="88123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49288" y="1012322"/>
            <a:ext cx="16229114" cy="8229600"/>
            <a:chOff x="0" y="0"/>
            <a:chExt cx="42743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33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334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6310046" y="-2312817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6125872" y="9311584"/>
            <a:ext cx="6036256" cy="3303478"/>
          </a:xfrm>
          <a:custGeom>
            <a:avLst/>
            <a:gdLst/>
            <a:ahLst/>
            <a:cxnLst/>
            <a:rect r="r" b="b" t="t" l="l"/>
            <a:pathLst>
              <a:path h="3303478" w="6036256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25373" y="1028700"/>
            <a:ext cx="3584673" cy="881232"/>
          </a:xfrm>
          <a:custGeom>
            <a:avLst/>
            <a:gdLst/>
            <a:ahLst/>
            <a:cxnLst/>
            <a:rect r="r" b="b" t="t" l="l"/>
            <a:pathLst>
              <a:path h="881232" w="3584673">
                <a:moveTo>
                  <a:pt x="0" y="0"/>
                </a:moveTo>
                <a:lnTo>
                  <a:pt x="3584673" y="0"/>
                </a:lnTo>
                <a:lnTo>
                  <a:pt x="3584673" y="881232"/>
                </a:lnTo>
                <a:lnTo>
                  <a:pt x="0" y="8812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586485" y="2485689"/>
            <a:ext cx="2756655" cy="5983437"/>
          </a:xfrm>
          <a:custGeom>
            <a:avLst/>
            <a:gdLst/>
            <a:ahLst/>
            <a:cxnLst/>
            <a:rect r="r" b="b" t="t" l="l"/>
            <a:pathLst>
              <a:path h="5983437" w="2756655">
                <a:moveTo>
                  <a:pt x="0" y="0"/>
                </a:moveTo>
                <a:lnTo>
                  <a:pt x="2756655" y="0"/>
                </a:lnTo>
                <a:lnTo>
                  <a:pt x="2756655" y="5983436"/>
                </a:lnTo>
                <a:lnTo>
                  <a:pt x="0" y="59834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74051" y="2485689"/>
            <a:ext cx="2756655" cy="5983437"/>
          </a:xfrm>
          <a:custGeom>
            <a:avLst/>
            <a:gdLst/>
            <a:ahLst/>
            <a:cxnLst/>
            <a:rect r="r" b="b" t="t" l="l"/>
            <a:pathLst>
              <a:path h="5983437" w="2756655">
                <a:moveTo>
                  <a:pt x="0" y="0"/>
                </a:moveTo>
                <a:lnTo>
                  <a:pt x="2756655" y="0"/>
                </a:lnTo>
                <a:lnTo>
                  <a:pt x="2756655" y="5983436"/>
                </a:lnTo>
                <a:lnTo>
                  <a:pt x="0" y="59834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600315" y="2485689"/>
            <a:ext cx="2747969" cy="5994275"/>
          </a:xfrm>
          <a:custGeom>
            <a:avLst/>
            <a:gdLst/>
            <a:ahLst/>
            <a:cxnLst/>
            <a:rect r="r" b="b" t="t" l="l"/>
            <a:pathLst>
              <a:path h="5994275" w="2747969">
                <a:moveTo>
                  <a:pt x="0" y="0"/>
                </a:moveTo>
                <a:lnTo>
                  <a:pt x="2747969" y="0"/>
                </a:lnTo>
                <a:lnTo>
                  <a:pt x="2747969" y="5994274"/>
                </a:lnTo>
                <a:lnTo>
                  <a:pt x="0" y="59942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605459" y="2474744"/>
            <a:ext cx="2750107" cy="5983437"/>
          </a:xfrm>
          <a:custGeom>
            <a:avLst/>
            <a:gdLst/>
            <a:ahLst/>
            <a:cxnLst/>
            <a:rect r="r" b="b" t="t" l="l"/>
            <a:pathLst>
              <a:path h="5983437" w="2750107">
                <a:moveTo>
                  <a:pt x="0" y="0"/>
                </a:moveTo>
                <a:lnTo>
                  <a:pt x="2750107" y="0"/>
                </a:lnTo>
                <a:lnTo>
                  <a:pt x="2750107" y="5983436"/>
                </a:lnTo>
                <a:lnTo>
                  <a:pt x="0" y="598343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612741" y="2474744"/>
            <a:ext cx="2740899" cy="5994382"/>
          </a:xfrm>
          <a:custGeom>
            <a:avLst/>
            <a:gdLst/>
            <a:ahLst/>
            <a:cxnLst/>
            <a:rect r="r" b="b" t="t" l="l"/>
            <a:pathLst>
              <a:path h="5994382" w="2740899">
                <a:moveTo>
                  <a:pt x="0" y="0"/>
                </a:moveTo>
                <a:lnTo>
                  <a:pt x="2740899" y="0"/>
                </a:lnTo>
                <a:lnTo>
                  <a:pt x="2740899" y="5994381"/>
                </a:lnTo>
                <a:lnTo>
                  <a:pt x="0" y="599438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50324" y="1721014"/>
            <a:ext cx="10279728" cy="568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50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Mockups Alejandra Producciones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5271" y="4565874"/>
            <a:ext cx="5902101" cy="7974702"/>
            <a:chOff x="0" y="0"/>
            <a:chExt cx="7869467" cy="106329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69467" cy="7869467"/>
            </a:xfrm>
            <a:custGeom>
              <a:avLst/>
              <a:gdLst/>
              <a:ahLst/>
              <a:cxnLst/>
              <a:rect r="r" b="b" t="t" l="l"/>
              <a:pathLst>
                <a:path h="7869467" w="7869467">
                  <a:moveTo>
                    <a:pt x="0" y="0"/>
                  </a:moveTo>
                  <a:lnTo>
                    <a:pt x="7869467" y="0"/>
                  </a:lnTo>
                  <a:lnTo>
                    <a:pt x="7869467" y="7869467"/>
                  </a:lnTo>
                  <a:lnTo>
                    <a:pt x="0" y="7869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13695" y="6497867"/>
              <a:ext cx="7555772" cy="4135068"/>
            </a:xfrm>
            <a:custGeom>
              <a:avLst/>
              <a:gdLst/>
              <a:ahLst/>
              <a:cxnLst/>
              <a:rect r="r" b="b" t="t" l="l"/>
              <a:pathLst>
                <a:path h="4135068" w="7555772">
                  <a:moveTo>
                    <a:pt x="0" y="0"/>
                  </a:moveTo>
                  <a:lnTo>
                    <a:pt x="7555772" y="0"/>
                  </a:lnTo>
                  <a:lnTo>
                    <a:pt x="7555772" y="4135069"/>
                  </a:lnTo>
                  <a:lnTo>
                    <a:pt x="0" y="4135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2385899" y="-2268953"/>
            <a:ext cx="5902101" cy="7974702"/>
            <a:chOff x="0" y="0"/>
            <a:chExt cx="7869467" cy="106329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69467" cy="7869467"/>
            </a:xfrm>
            <a:custGeom>
              <a:avLst/>
              <a:gdLst/>
              <a:ahLst/>
              <a:cxnLst/>
              <a:rect r="r" b="b" t="t" l="l"/>
              <a:pathLst>
                <a:path h="7869467" w="7869467">
                  <a:moveTo>
                    <a:pt x="0" y="0"/>
                  </a:moveTo>
                  <a:lnTo>
                    <a:pt x="7869467" y="0"/>
                  </a:lnTo>
                  <a:lnTo>
                    <a:pt x="7869467" y="7869467"/>
                  </a:lnTo>
                  <a:lnTo>
                    <a:pt x="0" y="7869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13695" y="6497867"/>
              <a:ext cx="7555772" cy="4135068"/>
            </a:xfrm>
            <a:custGeom>
              <a:avLst/>
              <a:gdLst/>
              <a:ahLst/>
              <a:cxnLst/>
              <a:rect r="r" b="b" t="t" l="l"/>
              <a:pathLst>
                <a:path h="4135068" w="7555772">
                  <a:moveTo>
                    <a:pt x="0" y="0"/>
                  </a:moveTo>
                  <a:lnTo>
                    <a:pt x="7555772" y="0"/>
                  </a:lnTo>
                  <a:lnTo>
                    <a:pt x="7555772" y="4135069"/>
                  </a:lnTo>
                  <a:lnTo>
                    <a:pt x="0" y="4135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2672315" y="-776716"/>
            <a:ext cx="4054948" cy="4114800"/>
          </a:xfrm>
          <a:custGeom>
            <a:avLst/>
            <a:gdLst/>
            <a:ahLst/>
            <a:cxnLst/>
            <a:rect r="r" b="b" t="t" l="l"/>
            <a:pathLst>
              <a:path h="4114800" w="4054948">
                <a:moveTo>
                  <a:pt x="0" y="0"/>
                </a:moveTo>
                <a:lnTo>
                  <a:pt x="4054948" y="0"/>
                </a:lnTo>
                <a:lnTo>
                  <a:pt x="40549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6884370" y="7044598"/>
            <a:ext cx="4054948" cy="4114800"/>
          </a:xfrm>
          <a:custGeom>
            <a:avLst/>
            <a:gdLst/>
            <a:ahLst/>
            <a:cxnLst/>
            <a:rect r="r" b="b" t="t" l="l"/>
            <a:pathLst>
              <a:path h="4114800" w="4054948">
                <a:moveTo>
                  <a:pt x="405494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54949" y="0"/>
                </a:lnTo>
                <a:lnTo>
                  <a:pt x="4054949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01656" y="3105363"/>
            <a:ext cx="16591420" cy="3842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52"/>
              </a:lnSpc>
            </a:pPr>
            <a:r>
              <a:rPr lang="en-US" sz="1332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GRACIAS</a:t>
            </a:r>
          </a:p>
          <a:p>
            <a:pPr algn="l">
              <a:lnSpc>
                <a:spcPts val="15052"/>
              </a:lnSpc>
            </a:pPr>
            <a:r>
              <a:rPr lang="en-US" sz="1332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POR SU ATENCION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82633" y="1028700"/>
            <a:ext cx="3584673" cy="881232"/>
          </a:xfrm>
          <a:custGeom>
            <a:avLst/>
            <a:gdLst/>
            <a:ahLst/>
            <a:cxnLst/>
            <a:rect r="r" b="b" t="t" l="l"/>
            <a:pathLst>
              <a:path h="881232" w="3584673">
                <a:moveTo>
                  <a:pt x="0" y="0"/>
                </a:moveTo>
                <a:lnTo>
                  <a:pt x="3584674" y="0"/>
                </a:lnTo>
                <a:lnTo>
                  <a:pt x="3584674" y="881232"/>
                </a:lnTo>
                <a:lnTo>
                  <a:pt x="0" y="8812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DAHUvqSEZrU</dc:identifier>
  <dcterms:modified xsi:type="dcterms:W3CDTF">2011-08-01T06:04:30Z</dcterms:modified>
  <cp:revision>1</cp:revision>
  <dc:title>Blue White Minimalist Modern Geometric Thesis Defense Presentation</dc:title>
</cp:coreProperties>
</file>